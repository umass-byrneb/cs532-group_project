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6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7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6qaudycq1dAF1wIufJBMXtW2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09" autoAdjust="0"/>
  </p:normalViewPr>
  <p:slideViewPr>
    <p:cSldViewPr snapToGrid="0">
      <p:cViewPr varScale="1">
        <p:scale>
          <a:sx n="68" d="100"/>
          <a:sy n="68" d="100"/>
        </p:scale>
        <p:origin x="84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193b7594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193b7594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2B6486E7-C0FB-014D-5676-62BCE3D95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>
            <a:extLst>
              <a:ext uri="{FF2B5EF4-FFF2-40B4-BE49-F238E27FC236}">
                <a16:creationId xmlns:a16="http://schemas.microsoft.com/office/drawing/2014/main" id="{BC055305-5A99-74EA-F2CB-429EEE33B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88A606B5-451E-5185-92EF-E3E4F37E1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2005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C56B2DD0-657D-5895-433D-3D32A160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>
            <a:extLst>
              <a:ext uri="{FF2B5EF4-FFF2-40B4-BE49-F238E27FC236}">
                <a16:creationId xmlns:a16="http://schemas.microsoft.com/office/drawing/2014/main" id="{0B50CD88-3E88-697B-AE8A-68F492D025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35AD4B80-56CB-26CB-4604-8948E4A76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470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60913079-9546-C2B4-57D1-941AABF7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>
            <a:extLst>
              <a:ext uri="{FF2B5EF4-FFF2-40B4-BE49-F238E27FC236}">
                <a16:creationId xmlns:a16="http://schemas.microsoft.com/office/drawing/2014/main" id="{0C5F6A7D-FF45-E330-0F9B-C2175B2A9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19BA72F2-0BDE-7FEB-BD71-797A2E36D7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1275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C5C09D3E-E646-4E10-EEEE-C11A5A1F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>
            <a:extLst>
              <a:ext uri="{FF2B5EF4-FFF2-40B4-BE49-F238E27FC236}">
                <a16:creationId xmlns:a16="http://schemas.microsoft.com/office/drawing/2014/main" id="{7DCEE7B2-0508-B5E1-6E6D-C2ACBA9F4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01F7CE2B-AA6C-8015-3552-A93167CD1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9947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39F1991C-5086-D9C1-AEFD-A2BE2443F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>
            <a:extLst>
              <a:ext uri="{FF2B5EF4-FFF2-40B4-BE49-F238E27FC236}">
                <a16:creationId xmlns:a16="http://schemas.microsoft.com/office/drawing/2014/main" id="{CBB3EF2B-3D2A-8F67-5ABE-B43986BAD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6A4B8546-11F9-E77D-50B7-081144EEF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7108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424CD0E-E2B2-78EC-BC30-CEAF29B1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>
            <a:extLst>
              <a:ext uri="{FF2B5EF4-FFF2-40B4-BE49-F238E27FC236}">
                <a16:creationId xmlns:a16="http://schemas.microsoft.com/office/drawing/2014/main" id="{C6E5F093-9721-05BE-E1DE-B96A5327B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3455580E-EBB7-271D-FF91-32300D513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797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AE345981-5CD3-A5BB-16A5-D7EAE396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>
            <a:extLst>
              <a:ext uri="{FF2B5EF4-FFF2-40B4-BE49-F238E27FC236}">
                <a16:creationId xmlns:a16="http://schemas.microsoft.com/office/drawing/2014/main" id="{5FAB0DD7-0BF4-AF90-8044-68C6E36EB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133A5E9F-A402-7A39-C00B-178EA21D7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8282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a193b75949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a193b75949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193b75949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193b75949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 txBox="1"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venir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venir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077362" y="2227809"/>
            <a:ext cx="4942438" cy="394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6172200" y="2227809"/>
            <a:ext cx="4855265" cy="3949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1084726" y="2505075"/>
            <a:ext cx="491284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485526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4855265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5844277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1084727" y="2253343"/>
            <a:ext cx="3687298" cy="361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582771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1084727" y="2449286"/>
            <a:ext cx="3687298" cy="341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 rot="5400000">
            <a:off x="4295656" y="-790979"/>
            <a:ext cx="3513514" cy="9950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 rot="5400000">
            <a:off x="7682592" y="2217963"/>
            <a:ext cx="5061857" cy="228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 rot="5400000">
            <a:off x="2364922" y="-699408"/>
            <a:ext cx="5061857" cy="81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8803792" y="3455896"/>
            <a:ext cx="3388208" cy="3406341"/>
          </a:xfrm>
          <a:custGeom>
            <a:avLst/>
            <a:gdLst/>
            <a:ahLst/>
            <a:cxnLst/>
            <a:rect l="l" t="t" r="r" b="b"/>
            <a:pathLst>
              <a:path w="3388208" h="3406341" extrusionOk="0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" name="Google Shape;7;p4"/>
          <p:cNvSpPr txBox="1"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dt" idx="10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ftr" idx="11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umass-byrneb/CS532-Group_Projec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200336" y="836875"/>
            <a:ext cx="4815000" cy="1026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Discovering Crypto Market Regimes with Spark</a:t>
            </a:r>
            <a:endParaRPr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200336" y="1863476"/>
            <a:ext cx="32316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 sz="3200" b="1" dirty="0"/>
              <a:t>CS 532 </a:t>
            </a:r>
            <a:br>
              <a:rPr lang="en-US" sz="3200" b="1" dirty="0"/>
            </a:br>
            <a:r>
              <a:rPr lang="en-US" sz="3200" b="1" dirty="0"/>
              <a:t>Systems for Data Science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rPr lang="en-US" sz="2800" dirty="0"/>
              <a:t>Final Project Presentation</a:t>
            </a:r>
            <a:endParaRPr sz="2800"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88" name="Google Shape;88;p1"/>
          <p:cNvSpPr/>
          <p:nvPr/>
        </p:nvSpPr>
        <p:spPr>
          <a:xfrm>
            <a:off x="5215672" y="-1263"/>
            <a:ext cx="3484819" cy="3430264"/>
          </a:xfrm>
          <a:prstGeom prst="rect">
            <a:avLst/>
          </a:prstGeom>
          <a:solidFill>
            <a:srgbClr val="8B87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215672" y="3429000"/>
            <a:ext cx="3483870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0" name="Google Shape;90;p1"/>
          <p:cNvSpPr/>
          <p:nvPr/>
        </p:nvSpPr>
        <p:spPr>
          <a:xfrm rot="-5400000">
            <a:off x="5243582" y="3407228"/>
            <a:ext cx="3428999" cy="3484818"/>
          </a:xfrm>
          <a:custGeom>
            <a:avLst/>
            <a:gdLst/>
            <a:ahLst/>
            <a:cxnLst/>
            <a:rect l="l" t="t" r="r" b="b"/>
            <a:pathLst>
              <a:path w="3484819" h="3430264" extrusionOk="0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rgbClr val="9AF0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709837" y="3431225"/>
            <a:ext cx="3482163" cy="3430264"/>
          </a:xfrm>
          <a:custGeom>
            <a:avLst/>
            <a:gdLst/>
            <a:ahLst/>
            <a:cxnLst/>
            <a:rect l="l" t="t" r="r" b="b"/>
            <a:pathLst>
              <a:path w="3482163" h="3430264" extrusionOk="0">
                <a:moveTo>
                  <a:pt x="3478283" y="0"/>
                </a:moveTo>
                <a:lnTo>
                  <a:pt x="3482163" y="0"/>
                </a:lnTo>
                <a:lnTo>
                  <a:pt x="3482163" y="3430264"/>
                </a:lnTo>
                <a:lnTo>
                  <a:pt x="0" y="3430264"/>
                </a:lnTo>
                <a:lnTo>
                  <a:pt x="0" y="3426283"/>
                </a:lnTo>
                <a:lnTo>
                  <a:pt x="335407" y="3410137"/>
                </a:lnTo>
                <a:cubicBezTo>
                  <a:pt x="2041201" y="3245035"/>
                  <a:pt x="3386298" y="1871077"/>
                  <a:pt x="3473897" y="170675"/>
                </a:cubicBezTo>
                <a:close/>
              </a:path>
            </a:pathLst>
          </a:custGeom>
          <a:solidFill>
            <a:srgbClr val="9AF0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l="40730" r="23239" b="-1"/>
          <a:stretch/>
        </p:blipFill>
        <p:spPr>
          <a:xfrm>
            <a:off x="8699542" y="2"/>
            <a:ext cx="3492458" cy="6858001"/>
          </a:xfrm>
          <a:custGeom>
            <a:avLst/>
            <a:gdLst/>
            <a:ahLst/>
            <a:cxnLst/>
            <a:rect l="l" t="t" r="r" b="b"/>
            <a:pathLst>
              <a:path w="3492458" h="6858001" extrusionOk="0">
                <a:moveTo>
                  <a:pt x="0" y="0"/>
                </a:moveTo>
                <a:lnTo>
                  <a:pt x="3492458" y="0"/>
                </a:lnTo>
                <a:lnTo>
                  <a:pt x="3492458" y="3430264"/>
                </a:lnTo>
                <a:lnTo>
                  <a:pt x="3488603" y="3430264"/>
                </a:lnTo>
                <a:lnTo>
                  <a:pt x="3484192" y="3601898"/>
                </a:lnTo>
                <a:cubicBezTo>
                  <a:pt x="3390753" y="5415660"/>
                  <a:pt x="1866561" y="6858001"/>
                  <a:pt x="0" y="6858001"/>
                </a:cubicBezTo>
                <a:lnTo>
                  <a:pt x="0" y="3430264"/>
                </a:lnTo>
                <a:lnTo>
                  <a:pt x="0" y="342524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00335" y="2493962"/>
            <a:ext cx="5005041" cy="181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Brandon Byrne 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Vishal Garimella,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Sravanthi </a:t>
            </a:r>
            <a:r>
              <a:rPr lang="en-US" sz="16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Machcha</a:t>
            </a: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Yuxin Zhang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Github</a:t>
            </a: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Link: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/>
              </a:rPr>
              <a:t>https://github.com/umass-byrneb/CS532-Group_Project</a:t>
            </a:r>
            <a:r>
              <a:rPr lang="en-US" sz="16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	</a:t>
            </a:r>
            <a:endParaRPr sz="16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193b75949_1_1"/>
          <p:cNvSpPr txBox="1">
            <a:spLocks noGrp="1"/>
          </p:cNvSpPr>
          <p:nvPr>
            <p:ph type="title"/>
          </p:nvPr>
        </p:nvSpPr>
        <p:spPr>
          <a:xfrm>
            <a:off x="969091" y="189222"/>
            <a:ext cx="9950100" cy="873062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Overall Spark Pipeline Architecture</a:t>
            </a:r>
            <a:endParaRPr dirty="0"/>
          </a:p>
        </p:txBody>
      </p:sp>
      <p:pic>
        <p:nvPicPr>
          <p:cNvPr id="3" name="Picture 2" descr="A diagram of a model&#10;&#10;AI-generated content may be incorrect.">
            <a:extLst>
              <a:ext uri="{FF2B5EF4-FFF2-40B4-BE49-F238E27FC236}">
                <a16:creationId xmlns:a16="http://schemas.microsoft.com/office/drawing/2014/main" id="{405E2BE1-D7F5-8669-783C-65B9D0F79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033" y="1062284"/>
            <a:ext cx="8361934" cy="5606494"/>
          </a:xfrm>
          <a:prstGeom prst="rect">
            <a:avLst/>
          </a:prstGeom>
        </p:spPr>
      </p:pic>
      <p:sp>
        <p:nvSpPr>
          <p:cNvPr id="105" name="Google Shape;105;g2a193b75949_1_1"/>
          <p:cNvSpPr txBox="1">
            <a:spLocks noGrp="1"/>
          </p:cNvSpPr>
          <p:nvPr>
            <p:ph type="body" idx="1"/>
          </p:nvPr>
        </p:nvSpPr>
        <p:spPr>
          <a:xfrm>
            <a:off x="822386" y="6288600"/>
            <a:ext cx="9950100" cy="56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lvl="0" indent="-325755">
              <a:buSzPct val="100000"/>
              <a:buChar char="❖"/>
            </a:pPr>
            <a:r>
              <a:rPr lang="en-US" dirty="0"/>
              <a:t>Adapted Source : https://www.pure.ed.ac.uk/ws/portalfiles/portal/381945597/WangEtal2023IRFAMachineLearningApproaches.pdf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674250" y="203530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Data Ingestion &amp; Feature Engineering (MS1–MS3)</a:t>
            </a:r>
            <a:endParaRPr dirty="0"/>
          </a:p>
        </p:txBody>
      </p:sp>
      <p:sp>
        <p:nvSpPr>
          <p:cNvPr id="165" name="Google Shape;165;p3"/>
          <p:cNvSpPr txBox="1"/>
          <p:nvPr/>
        </p:nvSpPr>
        <p:spPr>
          <a:xfrm>
            <a:off x="499740" y="2007174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Input: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daily per-symbol prices/returns → 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features_ml_daily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parquet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Features: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- 1-Day Return Percentage,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Rolling Volatility,   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Z-scores,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Moving-Average Gaps.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Design choice: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narrow, numeric schema suitable for Spark ML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Trade-off: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richer features vs. pipeline complexity and runtime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endParaRPr lang="en-US"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" name="Picture 5" descr="A table of numbers&#10;&#10;AI-generated content may be incorrect.">
            <a:extLst>
              <a:ext uri="{FF2B5EF4-FFF2-40B4-BE49-F238E27FC236}">
                <a16:creationId xmlns:a16="http://schemas.microsoft.com/office/drawing/2014/main" id="{C8D06429-63DF-61C6-22EF-E5AAA366C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40" y="2007174"/>
            <a:ext cx="5982531" cy="4226949"/>
          </a:xfrm>
          <a:prstGeom prst="rect">
            <a:avLst/>
          </a:prstGeom>
        </p:spPr>
      </p:pic>
      <p:sp>
        <p:nvSpPr>
          <p:cNvPr id="7" name="Google Shape;105;g2a193b75949_1_1">
            <a:extLst>
              <a:ext uri="{FF2B5EF4-FFF2-40B4-BE49-F238E27FC236}">
                <a16:creationId xmlns:a16="http://schemas.microsoft.com/office/drawing/2014/main" id="{592D279C-EF85-1AD9-006E-C460CCC0FDE0}"/>
              </a:ext>
            </a:extLst>
          </p:cNvPr>
          <p:cNvSpPr txBox="1">
            <a:spLocks/>
          </p:cNvSpPr>
          <p:nvPr/>
        </p:nvSpPr>
        <p:spPr>
          <a:xfrm>
            <a:off x="4783440" y="6386522"/>
            <a:ext cx="9950100" cy="56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25755">
              <a:buSzPct val="100000"/>
              <a:buFont typeface="Arial"/>
              <a:buChar char="❖"/>
            </a:pPr>
            <a:r>
              <a:rPr lang="en-US" dirty="0"/>
              <a:t>Daily Bitcoin(Symbol: BTC) Returns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ED3AFED3-DB18-5200-6F18-8AB96841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>
            <a:extLst>
              <a:ext uri="{FF2B5EF4-FFF2-40B4-BE49-F238E27FC236}">
                <a16:creationId xmlns:a16="http://schemas.microsoft.com/office/drawing/2014/main" id="{3D2C9D74-287B-4F91-7D56-F727CC5714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26" y="230174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Spark Job Structure and Caching (MS4)</a:t>
            </a:r>
            <a:endParaRPr dirty="0"/>
          </a:p>
        </p:txBody>
      </p:sp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0D618242-E26F-C49C-6E7D-47EAD525E9F0}"/>
              </a:ext>
            </a:extLst>
          </p:cNvPr>
          <p:cNvSpPr txBox="1"/>
          <p:nvPr/>
        </p:nvSpPr>
        <p:spPr>
          <a:xfrm>
            <a:off x="215961" y="2007174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 1: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Input Validation &amp; Manifest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 2: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Transition Stats &amp; Dwell Times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 3: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Regime Returns 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 4: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Transition Returns 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 5: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BTC Regime Returns by Symbol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6: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Cluster Characterization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 7: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Predictive Gauge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" name="Picture 3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ABC1F444-8DC8-25E5-4C77-B612094ED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302" y="1965670"/>
            <a:ext cx="4133258" cy="3412462"/>
          </a:xfrm>
          <a:prstGeom prst="rect">
            <a:avLst/>
          </a:prstGeom>
        </p:spPr>
      </p:pic>
      <p:pic>
        <p:nvPicPr>
          <p:cNvPr id="10" name="Picture 9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A929316F-CC2F-C257-9FC7-A5ADCAC92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400" y="2073166"/>
            <a:ext cx="3713599" cy="296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2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5E2EB3E-02F8-1540-06C0-9979DA64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test&#10;&#10;AI-generated content may be incorrect.">
            <a:extLst>
              <a:ext uri="{FF2B5EF4-FFF2-40B4-BE49-F238E27FC236}">
                <a16:creationId xmlns:a16="http://schemas.microsoft.com/office/drawing/2014/main" id="{57EBE150-3CA1-30D8-7358-E58AFB29E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661" y="1975224"/>
            <a:ext cx="4571622" cy="2907552"/>
          </a:xfrm>
          <a:prstGeom prst="rect">
            <a:avLst/>
          </a:prstGeom>
        </p:spPr>
      </p:pic>
      <p:sp>
        <p:nvSpPr>
          <p:cNvPr id="164" name="Google Shape;164;p3">
            <a:extLst>
              <a:ext uri="{FF2B5EF4-FFF2-40B4-BE49-F238E27FC236}">
                <a16:creationId xmlns:a16="http://schemas.microsoft.com/office/drawing/2014/main" id="{2A4350FA-2DE3-4E79-EADC-9AE2626391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26" y="166458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Predictive Gauge &amp; ML Integration(MS4 Step 7)</a:t>
            </a:r>
            <a:endParaRPr dirty="0"/>
          </a:p>
        </p:txBody>
      </p:sp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C7F0DD65-6952-F557-7049-BF7D58BC50B6}"/>
              </a:ext>
            </a:extLst>
          </p:cNvPr>
          <p:cNvSpPr txBox="1"/>
          <p:nvPr/>
        </p:nvSpPr>
        <p:spPr>
          <a:xfrm>
            <a:off x="215961" y="2007174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Step 7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joins features + forward returns 	per symbol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Simple predict sign, not magnitude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Features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= subset of numeric signals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Model=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Spark 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LogisticRegression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with optional class weighting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Outcome= 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ROC AUC ≈ 0.54–0.56,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PR AUC ≈ 0.56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Weak but non-trivial signal</a:t>
            </a: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" name="Picture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F6972B23-5857-919B-6B33-A376F435E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079" y="3466198"/>
            <a:ext cx="5237782" cy="339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428FEAC-3430-AF61-F280-8E078699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>
            <a:extLst>
              <a:ext uri="{FF2B5EF4-FFF2-40B4-BE49-F238E27FC236}">
                <a16:creationId xmlns:a16="http://schemas.microsoft.com/office/drawing/2014/main" id="{2D184D0F-D73D-B0AA-580B-2F8A4DB6F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26" y="90222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Benchmark Harness: Experiments &amp; Metrics(MS5)</a:t>
            </a:r>
            <a:endParaRPr dirty="0"/>
          </a:p>
        </p:txBody>
      </p:sp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3C3CD79B-9E5A-D830-E16F-166616605542}"/>
              </a:ext>
            </a:extLst>
          </p:cNvPr>
          <p:cNvSpPr txBox="1"/>
          <p:nvPr/>
        </p:nvSpPr>
        <p:spPr>
          <a:xfrm>
            <a:off x="215961" y="2007174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MS5_benchmark runs ms4_analysis under varied Spark configs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B0=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Baseline. local[*], AQE=ON, </a:t>
            </a:r>
            <a:r>
              <a:rPr lang="en-US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shuffle.partitions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=200, broadcast=10MB, </a:t>
            </a:r>
            <a:r>
              <a:rPr lang="en-US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Kryo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cache=ON, </a:t>
            </a:r>
            <a:r>
              <a:rPr lang="en-US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codegen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=ON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P1/P2=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Cores=local[1]/[4]=Quantify Parallel Speedup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S1/S2=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shuffle.partitions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=32/800=Shows overhead when too many tiny shuffle tasks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A1=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AQE OFF=Quantify Adaptive Query Exec benefit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J1=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Broadcast join OFF=Forces shuffle join; expect slower joins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C1=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 caching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R1=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Serializer=</a:t>
            </a:r>
            <a:r>
              <a:rPr lang="en-US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Kryo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vs Java serializer impact on shuffles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G1=</a:t>
            </a:r>
            <a:r>
              <a:rPr lang="en-US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Codegen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OFF=Disables whole-stage </a:t>
            </a:r>
            <a:r>
              <a:rPr lang="en-US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codegen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X5/X10=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Scale Factor=Makes differences visible; checks that caching/storage levels prevent OOM/spill disaster.</a:t>
            </a:r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234AE945-212E-4F8E-B494-47177FED6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574" y="1734206"/>
            <a:ext cx="7801309" cy="51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E72745EB-EE88-042E-3E4C-86A98EFC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>
            <a:extLst>
              <a:ext uri="{FF2B5EF4-FFF2-40B4-BE49-F238E27FC236}">
                <a16:creationId xmlns:a16="http://schemas.microsoft.com/office/drawing/2014/main" id="{3481E624-D739-CE4D-6CEB-C39C8F272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408" y="-173584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Testing: Data Integrity &amp; Sanity Checks</a:t>
            </a:r>
            <a:endParaRPr dirty="0"/>
          </a:p>
        </p:txBody>
      </p:sp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488AD619-B75F-D565-DCDD-3E7F4A2DEFF9}"/>
              </a:ext>
            </a:extLst>
          </p:cNvPr>
          <p:cNvSpPr txBox="1"/>
          <p:nvPr/>
        </p:nvSpPr>
        <p:spPr>
          <a:xfrm>
            <a:off x="168665" y="1639532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Schema &amp; span checks in Step 1: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Print schema, min/max Date, row 	count, symbol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Regime consistency: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Per-regime counts, per-coin top 	regimes, special day check 	(e.g., 2020-03-12)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Transition / dwell validation: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Check row-sum of transition 	probabilities ≈ 1.0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Breadth validation: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Per-date regime counts sum to total 	(no missing assignments)</a:t>
            </a:r>
          </a:p>
        </p:txBody>
      </p:sp>
      <p:pic>
        <p:nvPicPr>
          <p:cNvPr id="3" name="Picture 2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24170B09-C089-A540-4FB1-F0338DC44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991" y="1577819"/>
            <a:ext cx="3184828" cy="1789468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5B42339-2554-8A24-D1FB-712108393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982" y="3429000"/>
            <a:ext cx="3200837" cy="81157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941427-4219-0FCC-2CAB-73110946A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982" y="4302291"/>
            <a:ext cx="3184827" cy="2384856"/>
          </a:xfrm>
          <a:prstGeom prst="rect">
            <a:avLst/>
          </a:prstGeom>
        </p:spPr>
      </p:pic>
      <p:pic>
        <p:nvPicPr>
          <p:cNvPr id="10" name="Picture 9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C12FA204-EE51-04D9-3721-E90D1068F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109" y="1577819"/>
            <a:ext cx="1901138" cy="518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7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11995EA9-2733-BEF8-C81F-89615FBB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>
            <a:extLst>
              <a:ext uri="{FF2B5EF4-FFF2-40B4-BE49-F238E27FC236}">
                <a16:creationId xmlns:a16="http://schemas.microsoft.com/office/drawing/2014/main" id="{342BD9E5-FBC5-C6A6-C3EE-A1C9B52920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26" y="226706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Testing: Data Integrity &amp; Sanity Checks</a:t>
            </a:r>
            <a:endParaRPr dirty="0"/>
          </a:p>
        </p:txBody>
      </p:sp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30DE679C-7E5C-5A12-F85B-517B5209C7BB}"/>
              </a:ext>
            </a:extLst>
          </p:cNvPr>
          <p:cNvSpPr txBox="1"/>
          <p:nvPr/>
        </p:nvSpPr>
        <p:spPr>
          <a:xfrm>
            <a:off x="215961" y="2007174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Dry-run mode 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prints planned experiments and Spark configs without executing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Verification each experiment: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Writes 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metrics.json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summary.csv row, and _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timings.jsonl</a:t>
            </a:r>
            <a:endParaRPr lang="en-US"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Cross-check MS5 vs MS4: 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Per-step times in summary_agg.csv match MS4 _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timings.jsonl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values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Scaling tests X5/X10: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Ensure pipeline still completes, and wall time grows as expected (no crash or OOM)</a:t>
            </a:r>
          </a:p>
        </p:txBody>
      </p:sp>
      <p:pic>
        <p:nvPicPr>
          <p:cNvPr id="7" name="Picture 6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A20FEE5B-D911-1D07-BE65-53416B894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661" y="2007173"/>
            <a:ext cx="7201152" cy="423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1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7348E03B-2EDA-01CE-B116-5F4B7D02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>
            <a:extLst>
              <a:ext uri="{FF2B5EF4-FFF2-40B4-BE49-F238E27FC236}">
                <a16:creationId xmlns:a16="http://schemas.microsoft.com/office/drawing/2014/main" id="{0593D694-522B-65A6-B8F1-35A3D46B7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26" y="124230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Experimental Results: Regime Dynamics &amp; Market Behavior</a:t>
            </a:r>
            <a:endParaRPr dirty="0"/>
          </a:p>
        </p:txBody>
      </p:sp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A522BCE0-9A7C-53F0-6776-96C8C2557EEF}"/>
              </a:ext>
            </a:extLst>
          </p:cNvPr>
          <p:cNvSpPr txBox="1"/>
          <p:nvPr/>
        </p:nvSpPr>
        <p:spPr>
          <a:xfrm>
            <a:off x="215961" y="2007174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Dwell-time bars: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Median and mean run lengths differ      	by regime → some regimes are 	short “spikes”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 - Others are slow regimes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Transition matrix heatmap: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 - High diagonal → regimes tend to    	persist;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 - Certain regime pairs transition more 	often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213864-24BA-AA1E-20A6-B909E0C53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766" y="3570889"/>
            <a:ext cx="3979752" cy="3287111"/>
          </a:xfrm>
          <a:prstGeom prst="rect">
            <a:avLst/>
          </a:prstGeom>
        </p:spPr>
      </p:pic>
      <p:pic>
        <p:nvPicPr>
          <p:cNvPr id="4" name="Picture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44BC07C-1824-F34C-EA69-CDE9DC6F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982" y="1631730"/>
            <a:ext cx="4090451" cy="288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4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36A5379-4B74-32EA-2DAE-739F270B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>
            <a:extLst>
              <a:ext uri="{FF2B5EF4-FFF2-40B4-BE49-F238E27FC236}">
                <a16:creationId xmlns:a16="http://schemas.microsoft.com/office/drawing/2014/main" id="{8555CA78-72CE-FB59-BF7B-75D613384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26" y="124230"/>
            <a:ext cx="10843500" cy="15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</a:pPr>
            <a:r>
              <a:rPr lang="en-US" dirty="0"/>
              <a:t>Experimental Results: System Performance &amp; Predictive Gauge</a:t>
            </a:r>
            <a:endParaRPr dirty="0"/>
          </a:p>
        </p:txBody>
      </p:sp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8029F434-7386-E6BE-0BED-EF700465AD7F}"/>
              </a:ext>
            </a:extLst>
          </p:cNvPr>
          <p:cNvSpPr txBox="1"/>
          <p:nvPr/>
        </p:nvSpPr>
        <p:spPr>
          <a:xfrm>
            <a:off x="238404" y="1631730"/>
            <a:ext cx="4283700" cy="332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Wall-time bar chart: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Most configs near baseline;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AQE OFF (A1) much slower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AQE and broadcast joins clearly  	matter for join-heavy steps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Step 5 and the later ML-related 	steps drive most differences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Gauge performance: 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Better than chance but weak 	predictive power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Open questions: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How would results change with a          	deeper model or more features?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How do these Spark settings behave 	under true cluster load?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0B474-9DC0-5809-FF67-E072AF706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104" y="1891861"/>
            <a:ext cx="6923428" cy="409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6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a193b75949_1_41"/>
          <p:cNvSpPr txBox="1">
            <a:spLocks noGrp="1"/>
          </p:cNvSpPr>
          <p:nvPr>
            <p:ph type="title"/>
          </p:nvPr>
        </p:nvSpPr>
        <p:spPr>
          <a:xfrm>
            <a:off x="1077362" y="112909"/>
            <a:ext cx="9950100" cy="1507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Possible Improvements</a:t>
            </a:r>
            <a:endParaRPr/>
          </a:p>
        </p:txBody>
      </p:sp>
      <p:sp>
        <p:nvSpPr>
          <p:cNvPr id="173" name="Google Shape;173;g2a193b75949_1_41"/>
          <p:cNvSpPr txBox="1"/>
          <p:nvPr/>
        </p:nvSpPr>
        <p:spPr>
          <a:xfrm>
            <a:off x="1077350" y="1956500"/>
            <a:ext cx="106101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Move from </a:t>
            </a:r>
            <a:r>
              <a:rPr lang="en-US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single local node </a:t>
            </a:r>
            <a:r>
              <a:rPr 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 a multi-node Spark cluster for more realistic scaling</a:t>
            </a:r>
            <a:endParaRPr sz="20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Add more detailed instrumentation: per-stage Spark UI exports, shuffle read/write bytes, skew diagnostics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Replace some Python logic with Spark SQL views for easier optimization by the Catalyst planner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Explore different partitioning schemes for Parquet (e.g., partition by Date or symbol subsets) 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Extend the benchmark suite with long-running workloads (e.g., additional windows, more features, or deeper models)</a:t>
            </a:r>
            <a:endParaRPr sz="20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9AC12-F356-BBDD-58A8-8C87DE0C1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partitioning schemes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Parquet (e.g., partition by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symbol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subsets)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a193b75949_1_52"/>
          <p:cNvSpPr txBox="1">
            <a:spLocks noGrp="1"/>
          </p:cNvSpPr>
          <p:nvPr>
            <p:ph type="title"/>
          </p:nvPr>
        </p:nvSpPr>
        <p:spPr>
          <a:xfrm>
            <a:off x="377125" y="143752"/>
            <a:ext cx="9950100" cy="1215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179" name="Google Shape;179;g2a193b75949_1_52"/>
          <p:cNvSpPr txBox="1"/>
          <p:nvPr/>
        </p:nvSpPr>
        <p:spPr>
          <a:xfrm>
            <a:off x="226525" y="1657900"/>
            <a:ext cx="11306400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Goal 1 – Build an end-to-end Spark pipeline:</a:t>
            </a: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Status: Achieved — ingestion, clustering, regime labeling, and analysis all automated</a:t>
            </a: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Goal 2 – Characterize regimes &amp; market structure: </a:t>
            </a: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Status: Achieved — transition/dwell stats, regime returns, Time Metrics</a:t>
            </a: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Goal 3 – Add a simple predictive gauge: </a:t>
            </a:r>
          </a:p>
          <a:p>
            <a:pPr marL="114300" lvl="1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Status: Achieved — model runs and metrics are computed, but predictive power is low</a:t>
            </a: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Goal 4 – Study system-level trade-offs:</a:t>
            </a: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 - Status: Achieved — benchmark harness, multiple Spark configs, per-step timings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❖"/>
            </a:pPr>
            <a:r>
              <a:rPr lang="en-US" sz="1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Goal 5 – Make results reusable &amp; report-ready:</a:t>
            </a: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   - Status: Achieved — figure generator, artifact directories, and runnable scripts</a:t>
            </a: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AnalogousFromDarkSeedLeftStep">
      <a:dk1>
        <a:srgbClr val="000000"/>
      </a:dk1>
      <a:lt1>
        <a:srgbClr val="FFFFFF"/>
      </a:lt1>
      <a:dk2>
        <a:srgbClr val="1A2C2F"/>
      </a:dk2>
      <a:lt2>
        <a:srgbClr val="F3F3F0"/>
      </a:lt2>
      <a:accent1>
        <a:srgbClr val="3F3AE1"/>
      </a:accent1>
      <a:accent2>
        <a:srgbClr val="1E62CE"/>
      </a:accent2>
      <a:accent3>
        <a:srgbClr val="30BBDE"/>
      </a:accent3>
      <a:accent4>
        <a:srgbClr val="1DC49F"/>
      </a:accent4>
      <a:accent5>
        <a:srgbClr val="2BC663"/>
      </a:accent5>
      <a:accent6>
        <a:srgbClr val="26C71D"/>
      </a:accent6>
      <a:hlink>
        <a:srgbClr val="349E6D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964</Words>
  <Application>Microsoft Office PowerPoint</Application>
  <PresentationFormat>Widescreen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Unicode MS</vt:lpstr>
      <vt:lpstr>Avenir</vt:lpstr>
      <vt:lpstr>BlocksVTI</vt:lpstr>
      <vt:lpstr>Discovering Crypto Market Regimes with Spark</vt:lpstr>
      <vt:lpstr>Overall Spark Pipeline Architecture</vt:lpstr>
      <vt:lpstr>Data Ingestion &amp; Feature Engineering (MS1–MS3)</vt:lpstr>
      <vt:lpstr>Spark Job Structure and Caching (MS4)</vt:lpstr>
      <vt:lpstr>Predictive Gauge &amp; ML Integration(MS4 Step 7)</vt:lpstr>
      <vt:lpstr>Benchmark Harness: Experiments &amp; Metrics(MS5)</vt:lpstr>
      <vt:lpstr>Testing: Data Integrity &amp; Sanity Checks</vt:lpstr>
      <vt:lpstr>Testing: Data Integrity &amp; Sanity Checks</vt:lpstr>
      <vt:lpstr>Experimental Results: Regime Dynamics &amp; Market Behavior</vt:lpstr>
      <vt:lpstr>Experimental Results: System Performance &amp; Predictive Gauge</vt:lpstr>
      <vt:lpstr>Possible Improvements</vt:lpstr>
      <vt:lpstr>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TripAdvisor Restaurant Reviews - Sentiment Analysis using ML and Rule-Based Models</dc:title>
  <dc:creator>Sarah Boal</dc:creator>
  <cp:lastModifiedBy>Brandon Byrne</cp:lastModifiedBy>
  <cp:revision>8</cp:revision>
  <dcterms:created xsi:type="dcterms:W3CDTF">2023-12-02T20:11:37Z</dcterms:created>
  <dcterms:modified xsi:type="dcterms:W3CDTF">2025-11-22T13:28:28Z</dcterms:modified>
</cp:coreProperties>
</file>